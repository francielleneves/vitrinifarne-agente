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usado no onboarding de novos atendentes. Conteúdo alinhado ao FAQ v3.0 e à Política de Reembolso v2.2.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o princípio 3: o atendente não deve estimar prazo de transportadora por conta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Reclame Aqui é acompanhado pela coordenação, mas a primeira resposta é do atendente do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casos devem ser respondidos sem escalonamento, salvo divergência de valor acima de R$ 500.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Somar as etapas: 0 + 2 + 5 + 3 + 10 = 20 dias úteis no cenário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o módulo perguntando à turma qual caso recente se encaixaria em escalonamento.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B0603A"/>
                </a:solidFill>
              </a:rPr>
              <a:t>Vitrinifarne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F2A26"/>
                </a:solidFill>
              </a:rPr>
              <a:t>Treinamento de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2F2A26"/>
                </a:solidFill>
              </a:rPr>
              <a:t>Atendimento ao Cliente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</a:rPr>
              <a:t>Módulo 1 — Fundamentos do SAC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Versão 1.1 — 30/01/2026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Área responsável: Atendimento ao Cliente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29260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F2A26"/>
                </a:solidFill>
              </a:rPr>
              <a:t>Este material orienta a equipe de atendimento sobre postura, prazos de resposta e condução dos casos mais frequentes na loja.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A26"/>
                </a:solidFill>
              </a:rPr>
              <a:t>Os três princípios do atendimento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</a:rPr>
              <a:t>Valem para qualquer canal: e-mail, WhatsApp ou chat do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A26"/>
                </a:solidFill>
              </a:rPr>
              <a:t>Clareza antes de simpatia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611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Informe o prazo real, mesmo quando ele não agrada. Cliente informado reclama menos do que cliente surpreendido.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A26"/>
                </a:solidFill>
              </a:rPr>
              <a:t>Uma resposta, um caso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611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Cada protocolo é resolvido por quem o abriu. Não transfira sem antes registrar o que já foi verificado.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148840"/>
            <a:ext cx="502920" cy="502920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2A26"/>
                </a:solidFill>
              </a:rPr>
              <a:t>Prazo prometido é prazo cumprido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611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Nunca prometa data que dependa de terceiros sem confirmar. Prefira a faixa oficial da tabela de prazos.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A26"/>
                </a:solidFill>
              </a:rPr>
              <a:t>Prazos de resposta por canal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</a:rPr>
              <a:t>Contados em horas úteis, dentro do horário de funcionamento do SAC.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WhatsApp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03A"/>
                </a:solidFill>
              </a:rPr>
              <a:t>até 4h úteis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Chat do site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03A"/>
                </a:solidFill>
              </a:rPr>
              <a:t>até 1h útil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E-mail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03A"/>
                </a:solidFill>
              </a:rPr>
              <a:t>até 24h úteis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06840" y="19202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Reclame Aqui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603A"/>
                </a:solidFill>
              </a:rPr>
              <a:t>até 48h úteis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Horário de atendimento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625A"/>
                </a:solidFill>
              </a:rPr>
              <a:t>Segunda a sexta, das 8h às 18h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625A"/>
                </a:solidFill>
              </a:rPr>
              <a:t>Sábado, das 9h às 13h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625A"/>
                </a:solidFill>
              </a:rPr>
              <a:t>Sem atendimento aos domingos e feriados nacionais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B625A"/>
                </a:solidFill>
              </a:rPr>
              <a:t>Mensagens recebidas fora do horário têm o prazo contado a partir da abertura do expediente seguinte.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A26"/>
                </a:solidFill>
              </a:rPr>
              <a:t>Os quatro casos mais frequentes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</a:rPr>
              <a:t>Juntos representam cerca de 70% dos protocolos abertos no mês.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82296" cy="1828800"/>
          </a:xfrm>
          <a:prstGeom prst="rect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2A26"/>
                </a:solidFill>
              </a:rPr>
              <a:t>Onde está meu pedido?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Confirme o status no rastreio antes de responder. Se a transportadora não atualiza há mais de 5 dias úteis, abra chamado de extravio.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920240"/>
            <a:ext cx="82296" cy="1828800"/>
          </a:xfrm>
          <a:prstGeom prst="rect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2A26"/>
                </a:solidFill>
              </a:rPr>
              <a:t>Quero devolver o produto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Identifique a modalidade: arrependimento (7 dias) ou defeito (90 dias). O código de postagem reversa sai em até 2 dias úteis.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069080"/>
            <a:ext cx="82296" cy="1828800"/>
          </a:xfrm>
          <a:prstGeom prst="rect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2A26"/>
                </a:solidFill>
              </a:rPr>
              <a:t>Quando cai o meu estorno?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754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Até 10 dias úteis após a conferência no centro de distribuição. No cartão, pode aparecer em até duas faturas.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40690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069080"/>
            <a:ext cx="82296" cy="1828800"/>
          </a:xfrm>
          <a:prstGeom prst="rect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2A26"/>
                </a:solidFill>
              </a:rPr>
              <a:t>O frete ficou caro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7548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625A"/>
                </a:solidFill>
              </a:rPr>
              <a:t>Verifique se o pedido alcança o mínimo de frete grátis: R$ 299,00, ou R$ 499,00 na região Norte.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A26"/>
                </a:solidFill>
              </a:rPr>
              <a:t>Fluxo de devolução, etapa por etapa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</a:rPr>
              <a:t>Prazo total estimado: 20 dias úteis entre a abertura e o estorno.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Abertura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Cliente solicita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pelo site ou SAC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03A"/>
                </a:solidFill>
              </a:rPr>
              <a:t>dia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70048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603A"/>
                </a:solidFill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07792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Análise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90672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Pós-venda emite 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postagem reversa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90672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03A"/>
                </a:solidFill>
              </a:rPr>
              <a:t>2 dias úteis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603A"/>
                </a:solidFill>
              </a:rPr>
              <a:t>&gt;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75504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Postagem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58384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Cliente envia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pelos Correios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58384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03A"/>
                </a:solidFill>
              </a:rPr>
              <a:t>5 dias úteis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05472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603A"/>
                </a:solidFill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43216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Conferência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6096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CD recebe 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aprova o produto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26096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03A"/>
                </a:solidFill>
              </a:rPr>
              <a:t>3 dias úteis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73184" y="31089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603A"/>
                </a:solidFill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10928" y="2103120"/>
            <a:ext cx="2011680" cy="2468880"/>
          </a:xfrm>
          <a:prstGeom prst="roundRect">
            <a:avLst>
              <a:gd name="adj" fmla="val 3636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93808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Estorno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93808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Financeiro devolve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o valor pago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93808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03A"/>
                </a:solidFill>
              </a:rPr>
              <a:t>10 dias úteis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</a:rPr>
              <a:t>O frete da devolução é por conta da Vitrinifarne em todos os casos, exceto na troca por outro produto do catálogo.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2A26"/>
                </a:solidFill>
              </a:rPr>
              <a:t>O que nunca fazer no atendimento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</a:rPr>
              <a:t>Estas condutas geram retrabalho, reclamação formal ou risco jurídico.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93976"/>
            <a:ext cx="310896" cy="310896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93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A26"/>
                </a:solidFill>
              </a:rPr>
              <a:t>Prometer data de entrega fora da faixa oficial da tabela de prazos.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35224"/>
            <a:ext cx="310896" cy="310896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87121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A26"/>
                </a:solidFill>
              </a:rPr>
              <a:t>Autorizar estorno antes da conferência do produto no centro de distribuição.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02736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76472"/>
            <a:ext cx="310896" cy="310896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7124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A26"/>
                </a:solidFill>
              </a:rPr>
              <a:t>Solicitar dados completos de cartão de crédito por qualquer canal.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43984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17720"/>
            <a:ext cx="310896" cy="310896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55371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A26"/>
                </a:solidFill>
              </a:rPr>
              <a:t>Devolver valores para conta bancária de terceiros, diferente do titular do pedido.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85232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458968"/>
            <a:ext cx="310896" cy="310896"/>
          </a:xfrm>
          <a:prstGeom prst="ellipse">
            <a:avLst/>
          </a:prstGeom>
          <a:solidFill>
            <a:srgbClr val="B0603A"/>
          </a:solidFill>
          <a:ln w="12700">
            <a:solidFill>
              <a:srgbClr val="B06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458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39496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A26"/>
                </a:solidFill>
              </a:rPr>
              <a:t>Encerrar protocolo sem registrar o desfecho no sistema.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0" y="1920240"/>
            <a:ext cx="2834640" cy="2798064"/>
          </a:xfrm>
          <a:prstGeom prst="roundRect">
            <a:avLst>
              <a:gd name="adj" fmla="val 2614"/>
            </a:avLst>
          </a:prstGeom>
          <a:solidFill>
            <a:srgbClr val="EFE7DB"/>
          </a:solidFill>
          <a:ln w="12700">
            <a:solidFill>
              <a:srgbClr val="EFE7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2A26"/>
                </a:solidFill>
              </a:rPr>
              <a:t>Quando escalonar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0" y="26060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25A"/>
                </a:solidFill>
              </a:rPr>
              <a:t>Encaminhe à coordenação os casos com valor acima de R$ 1.500,00, suspeita de fraude, ameaça de ação judicial ou reincidência do mesmo defeito no mesmo pedido.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2026-07-29T16:32:35Z</dcterms:created>
  <dcterms:modified xsi:type="dcterms:W3CDTF">2026-07-29T16:32:35Z</dcterms:modified>
</cp:coreProperties>
</file>